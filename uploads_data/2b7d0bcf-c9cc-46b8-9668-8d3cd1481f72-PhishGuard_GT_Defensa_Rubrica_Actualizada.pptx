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576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Presentación: PhishGuard GT combina filtrado DNS y formación continua. Explicar que se trata de un prototipo validado técnicamente y de utilidad potencial para pequeñas organizaciones.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Lugar de aplicación: colegio de Villa Nueva con población accesible de 120 personas y muestra inicial de 44. El despliegue institucional y la segunda encuesta permanecen pendientes. Objetivo técnico alcanzado; reducción de incidentes aún no demostrada. 35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qué hace, no prometer protección total. El sistema no implementa IA/ML; usa heurística basada en reglas. Al operar como DNS local no cubre todos los vectores del phishing ni sustituye antivirus, correo seguro o MFA. 35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simplificada funcional: clientes consultan DNS a Pi-hole, Unbound resuelve dominios permitidos; aplicación ASP.NET Core MVC gestiona monitoreo, usuarios y formación, EF Core/PostgreSQL persistencia, reglas Python complementan análisis. Versiones del equipo de validación del capítulo IV: Pi-hole 6.4.3, Unbound 1.17, PostgreSQL 15.19 y .NET 10. Señalar que es vista simplificada, no una interacción secuencial de todos los componentes.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Acompañar con demostración grabada, no afirmar que se muestra vídeo dentro del PowerPoint. Hacer visible una acción y su resultado para cada paso: login, bloqueo DNS, monitor, módulo educativo y calificación. El video debe ser evidencia adicional. 45-50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internas: tablas 29, 31, 33, 34 y 38. Matiz importante: la tabla 29 contiene estados contradictorios con el texto posterior; la síntesis de capítulo V confirma diez RF altas implementadas y tres funciones de prioridad media pendientes/parciales. Las once pruebas automatizadas fueron aprobadas.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8EB4-FA6F-B1AA-C1AC-D1A95A88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ED581-E98A-38B6-3BEC-C0D312D2F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EF3F3-0541-0A21-FB03-B7E372D7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internas: tablas 29, 31, 33, 34 y 38. Matiz importante: la tabla 29 contiene estados contradictorios con el texto posterior; la síntesis de capítulo V confirma diez RF altas implementadas y tres funciones de prioridad media pendientes/parciales. Las once pruebas automatizadas fueron aprobadas. 40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9585A-150B-ABF6-2C70-839F59FFF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49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D1E1-D984-6193-BE90-B06E0202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87C9C-DA84-0D58-6FEA-4135DF137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0F7DD-CE4D-A235-205F-979E9A6C7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internas: tablas 29, 31, 33, 34 y 38. Matiz importante: la tabla 29 contiene estados contradictorios con el texto posterior; la síntesis de capítulo V confirma diez RF altas implementadas y tres funciones de prioridad media pendientes/parciales. Las once pruebas automatizadas fueron aprobadas. 40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B8291-73DC-D550-071F-4CD45EB83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50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PhishGuard GT puede ayudar a pymes y centros educativos a implementar prevención DNS y formación sin licencias comerciales obligatorias. No es sustituto de un programa integral de seguridad ni hay datos de reducción real de incidentes. Eslogan final y agradecimiento.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13232" y="749808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DE GRADUACIÓN · UNIVERSIDAD MARIANO GÁLVEZ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64592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31520" y="267919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integral de prevención de phishing y filtrado DNS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40664" y="3941064"/>
            <a:ext cx="8229600" cy="658368"/>
          </a:xfrm>
          <a:prstGeom prst="roundRect">
            <a:avLst>
              <a:gd name="adj" fmla="val 2222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PREVENTIVA  ·  VISIBILIDAD DNS  ·  FORMACIÓN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Fredy Geovany Martir González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" y="60167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Facultad de Ingeniería en Sistemas · Centro Universitario de Villa Nueva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OBJETIVO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80467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que aborda el proyecto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30936" y="16733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prevista: institución educativa de Villa Nueva, Guatemala.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350008"/>
            <a:ext cx="3438144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77824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9169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77824" y="362102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de 44 reportaron clic en enlace sospechoso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2544" y="2350008"/>
            <a:ext cx="3438144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535424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BRECHA FORMATIVA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5424" y="29169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35424" y="362102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capacitación formal previa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2350008"/>
            <a:ext cx="3438144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8183880" y="251460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29169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2.89 / 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183880" y="362102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declarado sobre phishing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" y="4581144"/>
            <a:ext cx="10716768" cy="996696"/>
          </a:xfrm>
          <a:prstGeom prst="roundRect">
            <a:avLst>
              <a:gd name="adj" fmla="val 14679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60120" y="4846320"/>
            <a:ext cx="134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04872" y="4745736"/>
            <a:ext cx="8677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 dominios maliciosos y fortalecer la capacidad del usuario para reconocer phishing.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952744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investigación, diagnóstico inicial (n = 44), Tabla 3 y objetivo general.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Y BENEFICIOS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80467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capas complementarias de protección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30936" y="16733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Prevención en la red y educación para mejorar decisiones humanas.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359152"/>
            <a:ext cx="5202936" cy="3054096"/>
          </a:xfrm>
          <a:prstGeom prst="roundRect">
            <a:avLst>
              <a:gd name="adj" fmla="val 479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6144768" y="2359152"/>
            <a:ext cx="5248656" cy="3054096"/>
          </a:xfrm>
          <a:prstGeom prst="roundRect">
            <a:avLst>
              <a:gd name="adj" fmla="val 479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3300984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Pi-hole + Unbound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69264" y="4014216"/>
            <a:ext cx="46268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 dinámicas, bloqueo de dominios catalogados y evaluación heurística de patrones sospechosos.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8232" y="269748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Y GESTIÓN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28232" y="3300984"/>
            <a:ext cx="46451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ASP.NET Core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28232" y="401421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módulos educativos, cuestionarios, resultados por usuario y monitoreo administrativo.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" y="5833872"/>
            <a:ext cx="10835640" cy="438912"/>
          </a:xfrm>
          <a:prstGeom prst="roundRect">
            <a:avLst>
              <a:gd name="adj" fmla="val 33333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886968" y="59070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 potencial: prevención más temprana, trazabilidad y menor dependencia de licencias comerciales.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80467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integra la solución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30936" y="16733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local de bajo costo; diseño por capas y componentes desacoplados.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596896"/>
            <a:ext cx="1856232" cy="1143000"/>
          </a:xfrm>
          <a:prstGeom prst="roundRect">
            <a:avLst>
              <a:gd name="adj" fmla="val 1280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795528" y="27340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" y="3172968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43784" y="2596896"/>
            <a:ext cx="2139696" cy="1143000"/>
          </a:xfrm>
          <a:prstGeom prst="roundRect">
            <a:avLst>
              <a:gd name="adj" fmla="val 1280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2962656" y="27340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PI-HOLE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317296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Filtrado y listas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30952" y="2596896"/>
            <a:ext cx="1847088" cy="1143000"/>
          </a:xfrm>
          <a:prstGeom prst="roundRect">
            <a:avLst>
              <a:gd name="adj" fmla="val 1280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5449824" y="273405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UNBOUND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40680" y="3172968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Resolución DNS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16368" y="2596896"/>
            <a:ext cx="3886200" cy="1143000"/>
          </a:xfrm>
          <a:prstGeom prst="roundRect">
            <a:avLst>
              <a:gd name="adj" fmla="val 1280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7635240" y="2734056"/>
            <a:ext cx="3666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10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26096" y="3172968"/>
            <a:ext cx="3666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Panel, formación y casos de uso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7221" y="29352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2830" y="29352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02698" y="29352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187696" y="4283964"/>
            <a:ext cx="4160520" cy="749808"/>
          </a:xfrm>
          <a:prstGeom prst="roundRect">
            <a:avLst>
              <a:gd name="adj" fmla="val 19512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5455607" y="4498848"/>
            <a:ext cx="36732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heurístico   ·   PostgreSQL 15.19   ·   servicios de sincronización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" y="5623013"/>
            <a:ext cx="10716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Diseño: Clean Architecture. Validación: Raspberry Pi 3 Model B.</a:t>
            </a:r>
            <a:endParaRPr lang="en-US" sz="13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C13B0F2-AEF9-8E22-8071-8E26B40C15B5}"/>
              </a:ext>
            </a:extLst>
          </p:cNvPr>
          <p:cNvSpPr/>
          <p:nvPr/>
        </p:nvSpPr>
        <p:spPr>
          <a:xfrm>
            <a:off x="2843784" y="4087368"/>
            <a:ext cx="2139696" cy="1143000"/>
          </a:xfrm>
          <a:prstGeom prst="roundRect">
            <a:avLst>
              <a:gd name="adj" fmla="val 12800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74BF9472-A81D-4081-C541-5806378AFED7}"/>
              </a:ext>
            </a:extLst>
          </p:cNvPr>
          <p:cNvSpPr/>
          <p:nvPr/>
        </p:nvSpPr>
        <p:spPr>
          <a:xfrm rot="5400000">
            <a:off x="3739896" y="378104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2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A2B03951-51DA-5F54-E797-5B4FF54885D1}"/>
              </a:ext>
            </a:extLst>
          </p:cNvPr>
          <p:cNvSpPr/>
          <p:nvPr/>
        </p:nvSpPr>
        <p:spPr>
          <a:xfrm>
            <a:off x="2942492" y="42473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</a:t>
            </a:r>
            <a:r>
              <a:rPr lang="en-US" sz="1700" b="1" dirty="0" err="1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heurístico</a:t>
            </a:r>
            <a:endParaRPr lang="en-US" sz="17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2873CA5A-2A3F-EF51-9CBA-42A40BF94AB4}"/>
              </a:ext>
            </a:extLst>
          </p:cNvPr>
          <p:cNvSpPr/>
          <p:nvPr/>
        </p:nvSpPr>
        <p:spPr>
          <a:xfrm>
            <a:off x="2953512" y="4567428"/>
            <a:ext cx="1920240" cy="52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3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evalúa dominios sospechosos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Y USABILIDAD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971296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Funcionamiento del prototipo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212848"/>
            <a:ext cx="10698480" cy="539496"/>
          </a:xfrm>
          <a:prstGeom prst="roundRect">
            <a:avLst>
              <a:gd name="adj" fmla="val 27119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932688" y="23225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91056" y="2304288"/>
            <a:ext cx="2971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Iniciar sesión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231343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acceso y roles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" y="2871216"/>
            <a:ext cx="10698480" cy="539496"/>
          </a:xfrm>
          <a:prstGeom prst="roundRect">
            <a:avLst>
              <a:gd name="adj" fmla="val 27119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932688" y="29809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91056" y="2962656"/>
            <a:ext cx="2971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dominios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8576" y="297180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o consultar lista de bloqueo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" y="3537399"/>
            <a:ext cx="10698480" cy="539496"/>
          </a:xfrm>
          <a:prstGeom prst="roundRect">
            <a:avLst>
              <a:gd name="adj" fmla="val 27119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932688" y="363931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91056" y="3621024"/>
            <a:ext cx="2971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r>
              <a:rPr lang="en-US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800" b="1" dirty="0" err="1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loqueo</a:t>
            </a:r>
            <a:r>
              <a:rPr lang="en-US" sz="18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08576" y="3630168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 catalogado → 0.0.0.0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2376" y="4187952"/>
            <a:ext cx="10698480" cy="539496"/>
          </a:xfrm>
          <a:prstGeom prst="roundRect">
            <a:avLst>
              <a:gd name="adj" fmla="val 27119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32688" y="42976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91056" y="4279392"/>
            <a:ext cx="2971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7FAFD"/>
                </a:solidFill>
                <a:latin typeface="Aptos" pitchFamily="34" charset="0"/>
              </a:rPr>
              <a:t>Panel de </a:t>
            </a:r>
            <a:r>
              <a:rPr lang="en-US" b="1" dirty="0" err="1">
                <a:solidFill>
                  <a:srgbClr val="F7FAFD"/>
                </a:solidFill>
                <a:latin typeface="Aptos" pitchFamily="34" charset="0"/>
              </a:rPr>
              <a:t>monitoreo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08576" y="4288536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y métricas del filtrado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2376" y="4846320"/>
            <a:ext cx="10698480" cy="539496"/>
          </a:xfrm>
          <a:prstGeom prst="roundRect">
            <a:avLst>
              <a:gd name="adj" fmla="val 27119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932688" y="495604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91056" y="4937760"/>
            <a:ext cx="2971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de </a:t>
            </a:r>
            <a:r>
              <a:rPr lang="en-US" sz="1800" b="1" dirty="0" err="1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08576" y="4946904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Módulo, cuestionario y resultado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" y="5833872"/>
            <a:ext cx="10835640" cy="438912"/>
          </a:xfrm>
          <a:prstGeom prst="roundRect">
            <a:avLst>
              <a:gd name="adj" fmla="val 33333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886968" y="59070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80467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técnicos verificables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30936" y="16733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medidos del </a:t>
            </a:r>
            <a:r>
              <a:rPr lang="en-US" sz="1400" dirty="0" err="1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386584"/>
            <a:ext cx="3410712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77824" y="255117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ALTA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953512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77824" y="365760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 obligatorios implementados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0832" y="2386584"/>
            <a:ext cx="3401568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553712" y="255117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QA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2953512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Automatizadas aprobadas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37576" y="2386584"/>
            <a:ext cx="3401568" cy="1947672"/>
          </a:xfrm>
          <a:prstGeom prst="roundRect">
            <a:avLst>
              <a:gd name="adj" fmla="val 75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8220456" y="2551176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 DNS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0456" y="2953512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2.76 ms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20456" y="36576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de dominios bloqueados a 100 QPS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654296"/>
            <a:ext cx="10707624" cy="850392"/>
          </a:xfrm>
          <a:prstGeom prst="roundRect">
            <a:avLst>
              <a:gd name="adj" fmla="val 17204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96696" y="4892040"/>
            <a:ext cx="10140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promedio menor a 5 ms hasta 200 QPS para tráfico ya catalogado.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6656" y="5833872"/>
            <a:ext cx="10835640" cy="438912"/>
          </a:xfrm>
          <a:prstGeom prst="roundRect">
            <a:avLst>
              <a:gd name="adj" fmla="val 33333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886968" y="59070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Limitaciones: mediciones en loopback; saturación a 400 QPS.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F5DE6-C99F-D2D7-CC70-CE60EC50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96B6CE-FE9A-2C5E-AB42-327625B15D7E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B29507-D1CF-51A9-53A8-16F3759EB9A0}"/>
              </a:ext>
            </a:extLst>
          </p:cNvPr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3C785C-9112-C24D-E3AA-AEEF949359B7}"/>
              </a:ext>
            </a:extLst>
          </p:cNvPr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F071F1-BA1D-87E3-2588-830CDBC04EEE}"/>
              </a:ext>
            </a:extLst>
          </p:cNvPr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7B56A47-213F-7DB0-CFF8-0E375E7C3D2C}"/>
              </a:ext>
            </a:extLst>
          </p:cNvPr>
          <p:cNvSpPr/>
          <p:nvPr/>
        </p:nvSpPr>
        <p:spPr>
          <a:xfrm>
            <a:off x="676656" y="5833872"/>
            <a:ext cx="10835640" cy="438912"/>
          </a:xfrm>
          <a:prstGeom prst="roundRect">
            <a:avLst>
              <a:gd name="adj" fmla="val 33333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4F40929E-8FE1-AE42-9C14-0615303AAE25}"/>
              </a:ext>
            </a:extLst>
          </p:cNvPr>
          <p:cNvSpPr/>
          <p:nvPr/>
        </p:nvSpPr>
        <p:spPr>
          <a:xfrm>
            <a:off x="603504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2572B49-7C92-A980-FA32-0BEF434CFFDC}"/>
              </a:ext>
            </a:extLst>
          </p:cNvPr>
          <p:cNvSpPr/>
          <p:nvPr/>
        </p:nvSpPr>
        <p:spPr>
          <a:xfrm>
            <a:off x="603504" y="841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1,952 de inversión estimada</a:t>
            </a:r>
            <a:endParaRPr lang="en-US" sz="30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85C0E87B-1F1A-F5B9-C0B1-C0AF3BAAEFB7}"/>
              </a:ext>
            </a:extLst>
          </p:cNvPr>
          <p:cNvSpPr/>
          <p:nvPr/>
        </p:nvSpPr>
        <p:spPr>
          <a:xfrm>
            <a:off x="62179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 para construir y poner a prueba el prototipo, no costo total de operación empresarial.</a:t>
            </a:r>
            <a:endParaRPr lang="en-US" sz="14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CBB9BE4-4C18-16B2-E0D2-94D6E9FC7A05}"/>
              </a:ext>
            </a:extLst>
          </p:cNvPr>
          <p:cNvSpPr/>
          <p:nvPr/>
        </p:nvSpPr>
        <p:spPr>
          <a:xfrm>
            <a:off x="685800" y="2331720"/>
            <a:ext cx="6949440" cy="466344"/>
          </a:xfrm>
          <a:prstGeom prst="roundRect">
            <a:avLst>
              <a:gd name="adj" fmla="val 294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CFD18010-70E6-AEDE-8615-8748F9B0F5CF}"/>
              </a:ext>
            </a:extLst>
          </p:cNvPr>
          <p:cNvSpPr/>
          <p:nvPr/>
        </p:nvSpPr>
        <p:spPr>
          <a:xfrm>
            <a:off x="923544" y="241401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Raspberry Pi 4 (4 GB)</a:t>
            </a:r>
            <a:endParaRPr lang="en-US" sz="16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FFF6EF5-9EDD-6777-0F57-4863A9399277}"/>
              </a:ext>
            </a:extLst>
          </p:cNvPr>
          <p:cNvSpPr/>
          <p:nvPr/>
        </p:nvSpPr>
        <p:spPr>
          <a:xfrm>
            <a:off x="6099048" y="240487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967</a:t>
            </a:r>
            <a:endParaRPr lang="en-US" sz="16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87677A10-1361-EF4F-3B06-CF8633C592DC}"/>
              </a:ext>
            </a:extLst>
          </p:cNvPr>
          <p:cNvSpPr/>
          <p:nvPr/>
        </p:nvSpPr>
        <p:spPr>
          <a:xfrm>
            <a:off x="685800" y="2889504"/>
            <a:ext cx="6949440" cy="466344"/>
          </a:xfrm>
          <a:prstGeom prst="roundRect">
            <a:avLst>
              <a:gd name="adj" fmla="val 29412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67C1F27-7663-4482-CF39-84D3060268C5}"/>
              </a:ext>
            </a:extLst>
          </p:cNvPr>
          <p:cNvSpPr/>
          <p:nvPr/>
        </p:nvSpPr>
        <p:spPr>
          <a:xfrm>
            <a:off x="923544" y="297180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 de instalación</a:t>
            </a:r>
            <a:endParaRPr lang="en-US" sz="16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53B050CF-7516-FDCA-4FEF-8B35315640D4}"/>
              </a:ext>
            </a:extLst>
          </p:cNvPr>
          <p:cNvSpPr/>
          <p:nvPr/>
        </p:nvSpPr>
        <p:spPr>
          <a:xfrm>
            <a:off x="6099048" y="296265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280</a:t>
            </a:r>
            <a:endParaRPr lang="en-US" sz="16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DE2637D-D6B1-AD41-BFC3-A84462429FE5}"/>
              </a:ext>
            </a:extLst>
          </p:cNvPr>
          <p:cNvSpPr/>
          <p:nvPr/>
        </p:nvSpPr>
        <p:spPr>
          <a:xfrm>
            <a:off x="685800" y="3447288"/>
            <a:ext cx="6949440" cy="466344"/>
          </a:xfrm>
          <a:prstGeom prst="roundRect">
            <a:avLst>
              <a:gd name="adj" fmla="val 294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B907F8B3-04DA-B0AE-3040-67BB904292E6}"/>
              </a:ext>
            </a:extLst>
          </p:cNvPr>
          <p:cNvSpPr/>
          <p:nvPr/>
        </p:nvSpPr>
        <p:spPr>
          <a:xfrm>
            <a:off x="923544" y="3529584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Papelería e instrumentos</a:t>
            </a:r>
            <a:endParaRPr lang="en-US" sz="16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81EBDCD6-377D-A74A-C06C-E9FDF7565705}"/>
              </a:ext>
            </a:extLst>
          </p:cNvPr>
          <p:cNvSpPr/>
          <p:nvPr/>
        </p:nvSpPr>
        <p:spPr>
          <a:xfrm>
            <a:off x="6099048" y="352044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150</a:t>
            </a:r>
            <a:endParaRPr lang="en-US" sz="16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37B33588-D8A2-BF5F-C74E-BC11F17A2790}"/>
              </a:ext>
            </a:extLst>
          </p:cNvPr>
          <p:cNvSpPr/>
          <p:nvPr/>
        </p:nvSpPr>
        <p:spPr>
          <a:xfrm>
            <a:off x="685800" y="4005072"/>
            <a:ext cx="6949440" cy="466344"/>
          </a:xfrm>
          <a:prstGeom prst="roundRect">
            <a:avLst>
              <a:gd name="adj" fmla="val 29412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FD58B30A-9317-A19E-D9B6-7B86F36464EB}"/>
              </a:ext>
            </a:extLst>
          </p:cNvPr>
          <p:cNvSpPr/>
          <p:nvPr/>
        </p:nvSpPr>
        <p:spPr>
          <a:xfrm>
            <a:off x="923544" y="4087368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 y visitas</a:t>
            </a:r>
            <a:endParaRPr lang="en-US" sz="16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955E9A45-E13C-0A23-C077-E4B176FF2D0A}"/>
              </a:ext>
            </a:extLst>
          </p:cNvPr>
          <p:cNvSpPr/>
          <p:nvPr/>
        </p:nvSpPr>
        <p:spPr>
          <a:xfrm>
            <a:off x="6099048" y="407822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400</a:t>
            </a:r>
            <a:endParaRPr lang="en-US" sz="1600" dirty="0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960B2122-6DFC-0E57-10D0-278FBCD3229E}"/>
              </a:ext>
            </a:extLst>
          </p:cNvPr>
          <p:cNvSpPr/>
          <p:nvPr/>
        </p:nvSpPr>
        <p:spPr>
          <a:xfrm>
            <a:off x="685800" y="4562856"/>
            <a:ext cx="6949440" cy="466344"/>
          </a:xfrm>
          <a:prstGeom prst="roundRect">
            <a:avLst>
              <a:gd name="adj" fmla="val 29412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1DBB7071-3EFA-623D-0FFC-596B849825E6}"/>
              </a:ext>
            </a:extLst>
          </p:cNvPr>
          <p:cNvSpPr/>
          <p:nvPr/>
        </p:nvSpPr>
        <p:spPr>
          <a:xfrm>
            <a:off x="923544" y="4645152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Contingencia</a:t>
            </a:r>
            <a:endParaRPr lang="en-US" sz="1600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A81555AF-95B5-60C9-4C7C-5B274D4C4C6D}"/>
              </a:ext>
            </a:extLst>
          </p:cNvPr>
          <p:cNvSpPr/>
          <p:nvPr/>
        </p:nvSpPr>
        <p:spPr>
          <a:xfrm>
            <a:off x="6099048" y="4636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155</a:t>
            </a:r>
            <a:endParaRPr lang="en-US" sz="16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9726A60E-DEC6-B996-0594-95F9C794069D}"/>
              </a:ext>
            </a:extLst>
          </p:cNvPr>
          <p:cNvSpPr/>
          <p:nvPr/>
        </p:nvSpPr>
        <p:spPr>
          <a:xfrm>
            <a:off x="7927848" y="2331720"/>
            <a:ext cx="3493008" cy="3291840"/>
          </a:xfrm>
          <a:prstGeom prst="roundRect">
            <a:avLst>
              <a:gd name="adj" fmla="val 4167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7890AB8A-E133-0B82-4158-AE6B0335EF07}"/>
              </a:ext>
            </a:extLst>
          </p:cNvPr>
          <p:cNvSpPr/>
          <p:nvPr/>
        </p:nvSpPr>
        <p:spPr>
          <a:xfrm>
            <a:off x="8247888" y="287121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TOTAL</a:t>
            </a:r>
            <a:endParaRPr lang="en-US" sz="1400" dirty="0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359B76E3-0FDB-DC4E-5AE9-56CD1B8BC14D}"/>
              </a:ext>
            </a:extLst>
          </p:cNvPr>
          <p:cNvSpPr/>
          <p:nvPr/>
        </p:nvSpPr>
        <p:spPr>
          <a:xfrm>
            <a:off x="8174736" y="3511296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1,952</a:t>
            </a:r>
            <a:endParaRPr lang="en-US" sz="320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065C3002-E1E8-A34A-62DA-739AC1BB6B8C}"/>
              </a:ext>
            </a:extLst>
          </p:cNvPr>
          <p:cNvSpPr/>
          <p:nvPr/>
        </p:nvSpPr>
        <p:spPr>
          <a:xfrm>
            <a:off x="8220456" y="4389120"/>
            <a:ext cx="2953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Software: sin licencias comerciales obligatorias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6627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CE7E8-6AB0-7793-F4ED-21817526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F755B1-7319-72E2-01FB-1F5DC037FA0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A3F290-F759-5FD6-A61C-B8552C9AA53A}"/>
              </a:ext>
            </a:extLst>
          </p:cNvPr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7B4F02-AF79-F898-A92E-340EB9BCAA03}"/>
              </a:ext>
            </a:extLst>
          </p:cNvPr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A57FBF-A0D7-FCEB-EB52-34FCE0AA71BF}"/>
              </a:ext>
            </a:extLst>
          </p:cNvPr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01AE6C5-7364-1FCC-33CA-74C7BA3F3734}"/>
              </a:ext>
            </a:extLst>
          </p:cNvPr>
          <p:cNvSpPr/>
          <p:nvPr/>
        </p:nvSpPr>
        <p:spPr>
          <a:xfrm>
            <a:off x="603504" y="3383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ECONÓMICA</a:t>
            </a:r>
            <a:endParaRPr lang="en-US" sz="1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39E8D82-B030-38D4-75F6-89CC7398B237}"/>
              </a:ext>
            </a:extLst>
          </p:cNvPr>
          <p:cNvSpPr/>
          <p:nvPr/>
        </p:nvSpPr>
        <p:spPr>
          <a:xfrm>
            <a:off x="603504" y="8412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ROSI: de los parámetros al resultado</a:t>
            </a:r>
            <a:endParaRPr lang="en-US" sz="30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F5CBACF-4E59-9E12-2E93-375A6BA5A894}"/>
              </a:ext>
            </a:extLst>
          </p:cNvPr>
          <p:cNvSpPr/>
          <p:nvPr/>
        </p:nvSpPr>
        <p:spPr>
          <a:xfrm>
            <a:off x="667512" y="2128286"/>
            <a:ext cx="6601968" cy="3520440"/>
          </a:xfrm>
          <a:prstGeom prst="roundRect">
            <a:avLst>
              <a:gd name="adj" fmla="val 3896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41AD9DB-CAA8-667F-E3C7-54455B4A7FB3}"/>
              </a:ext>
            </a:extLst>
          </p:cNvPr>
          <p:cNvSpPr/>
          <p:nvPr/>
        </p:nvSpPr>
        <p:spPr>
          <a:xfrm>
            <a:off x="905256" y="2377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por incidente</a:t>
            </a:r>
            <a:endParaRPr lang="en-US" sz="14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EF6AB96-1FEE-F84C-7EFC-DD18788A78D5}"/>
              </a:ext>
            </a:extLst>
          </p:cNvPr>
          <p:cNvSpPr/>
          <p:nvPr/>
        </p:nvSpPr>
        <p:spPr>
          <a:xfrm>
            <a:off x="31821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38,750</a:t>
            </a:r>
            <a:endParaRPr lang="en-US" sz="17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A9B970C6-FDB1-444B-5EF6-AE967BE0B40C}"/>
              </a:ext>
            </a:extLst>
          </p:cNvPr>
          <p:cNvSpPr/>
          <p:nvPr/>
        </p:nvSpPr>
        <p:spPr>
          <a:xfrm>
            <a:off x="4562856" y="2298583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Incidente</a:t>
            </a:r>
            <a:r>
              <a:rPr lang="en-US" sz="11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phishing</a:t>
            </a:r>
            <a:endParaRPr lang="en-US" sz="11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4AAEFF7-0E43-6BCF-DF64-C964EA0A2BD5}"/>
              </a:ext>
            </a:extLst>
          </p:cNvPr>
          <p:cNvSpPr/>
          <p:nvPr/>
        </p:nvSpPr>
        <p:spPr>
          <a:xfrm>
            <a:off x="905256" y="31272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anual</a:t>
            </a:r>
            <a:endParaRPr lang="en-US" sz="14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DD3270CA-309D-6F96-2F0C-C88DD4EC9FBB}"/>
              </a:ext>
            </a:extLst>
          </p:cNvPr>
          <p:cNvSpPr/>
          <p:nvPr/>
        </p:nvSpPr>
        <p:spPr>
          <a:xfrm>
            <a:off x="3182112" y="31272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43 %</a:t>
            </a:r>
            <a:endParaRPr lang="en-US" sz="17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6B3D2BB-A714-F8C4-0784-2793C8263993}"/>
              </a:ext>
            </a:extLst>
          </p:cNvPr>
          <p:cNvSpPr/>
          <p:nvPr/>
        </p:nvSpPr>
        <p:spPr>
          <a:xfrm>
            <a:off x="4562856" y="3048391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Kaspersky: </a:t>
            </a:r>
            <a:r>
              <a:rPr lang="en-US" sz="1100" dirty="0" err="1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</a:t>
            </a:r>
            <a:r>
              <a:rPr lang="en-US" sz="11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afectadas</a:t>
            </a:r>
            <a:endParaRPr lang="en-US" sz="11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AA29E43-FDD8-9EBC-F0A7-56DDD71A9D8F}"/>
              </a:ext>
            </a:extLst>
          </p:cNvPr>
          <p:cNvSpPr/>
          <p:nvPr/>
        </p:nvSpPr>
        <p:spPr>
          <a:xfrm>
            <a:off x="905256" y="38770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Reducción atribuida</a:t>
            </a:r>
            <a:endParaRPr lang="en-US" sz="14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8587BAD6-CE56-EDC3-EFFB-50467DB7346A}"/>
              </a:ext>
            </a:extLst>
          </p:cNvPr>
          <p:cNvSpPr/>
          <p:nvPr/>
        </p:nvSpPr>
        <p:spPr>
          <a:xfrm>
            <a:off x="3182112" y="387705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60 %</a:t>
            </a:r>
            <a:endParaRPr lang="en-US" sz="17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4B55158-6BA3-DC2B-6A78-5F7C5BB14550}"/>
              </a:ext>
            </a:extLst>
          </p:cNvPr>
          <p:cNvSpPr/>
          <p:nvPr/>
        </p:nvSpPr>
        <p:spPr>
          <a:xfrm>
            <a:off x="4562856" y="3814455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1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Efectividad estimada del filtrado DNS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AA4D3F52-CC9F-6910-F618-CDB05A338813}"/>
              </a:ext>
            </a:extLst>
          </p:cNvPr>
          <p:cNvSpPr/>
          <p:nvPr/>
        </p:nvSpPr>
        <p:spPr>
          <a:xfrm>
            <a:off x="905256" y="46268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de referencia</a:t>
            </a:r>
            <a:endParaRPr lang="en-US" sz="14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400D0FB9-A931-C038-6F57-42221778AF97}"/>
              </a:ext>
            </a:extLst>
          </p:cNvPr>
          <p:cNvSpPr/>
          <p:nvPr/>
        </p:nvSpPr>
        <p:spPr>
          <a:xfrm>
            <a:off x="3182112" y="462686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1,952</a:t>
            </a:r>
            <a:endParaRPr lang="en-US" sz="17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AD2C7DF-9200-B588-2FA5-A0E0A420AF11}"/>
              </a:ext>
            </a:extLst>
          </p:cNvPr>
          <p:cNvSpPr/>
          <p:nvPr/>
        </p:nvSpPr>
        <p:spPr>
          <a:xfrm>
            <a:off x="4562856" y="4552540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 del prototipo</a:t>
            </a:r>
            <a:endParaRPr lang="en-US" sz="1100" dirty="0"/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2D2C0700-2D0C-B13D-597F-15B93B720340}"/>
              </a:ext>
            </a:extLst>
          </p:cNvPr>
          <p:cNvSpPr/>
          <p:nvPr/>
        </p:nvSpPr>
        <p:spPr>
          <a:xfrm>
            <a:off x="7470648" y="2157984"/>
            <a:ext cx="4005072" cy="3520440"/>
          </a:xfrm>
          <a:prstGeom prst="roundRect">
            <a:avLst>
              <a:gd name="adj" fmla="val 3896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A9B3A5BE-8DDA-F7C7-7843-41D5C6050436}"/>
              </a:ext>
            </a:extLst>
          </p:cNvPr>
          <p:cNvSpPr/>
          <p:nvPr/>
        </p:nvSpPr>
        <p:spPr>
          <a:xfrm>
            <a:off x="7744968" y="2450592"/>
            <a:ext cx="3438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 EXPLÍCITO</a:t>
            </a:r>
            <a:endParaRPr lang="en-US" sz="130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FC2554AE-EE84-87F3-9507-5BB1CDB4E572}"/>
              </a:ext>
            </a:extLst>
          </p:cNvPr>
          <p:cNvSpPr/>
          <p:nvPr/>
        </p:nvSpPr>
        <p:spPr>
          <a:xfrm>
            <a:off x="7726680" y="2944368"/>
            <a:ext cx="3511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38,750 × 0.43 × 0.60</a:t>
            </a:r>
            <a:endParaRPr lang="en-US" sz="1800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06E1F060-1A08-DD4B-C080-19E6CE4640FD}"/>
              </a:ext>
            </a:extLst>
          </p:cNvPr>
          <p:cNvSpPr/>
          <p:nvPr/>
        </p:nvSpPr>
        <p:spPr>
          <a:xfrm>
            <a:off x="7717536" y="3374136"/>
            <a:ext cx="3520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Q 9,997.50 / año</a:t>
            </a:r>
            <a:endParaRPr lang="en-US" sz="230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65D5AD1-66B1-9255-0BF7-5788B40CD275}"/>
              </a:ext>
            </a:extLst>
          </p:cNvPr>
          <p:cNvSpPr/>
          <p:nvPr/>
        </p:nvSpPr>
        <p:spPr>
          <a:xfrm>
            <a:off x="7717536" y="409651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ROSI = (9,997.50 − 1,952) / 1,952</a:t>
            </a:r>
            <a:endParaRPr lang="en-US" sz="1400" dirty="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60295BA0-25A0-1EFA-36BF-7B3FE7314ECF}"/>
              </a:ext>
            </a:extLst>
          </p:cNvPr>
          <p:cNvSpPr/>
          <p:nvPr/>
        </p:nvSpPr>
        <p:spPr>
          <a:xfrm>
            <a:off x="7717536" y="4681728"/>
            <a:ext cx="3538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412 %  ·  Recuperación ≈ 2.34 meses</a:t>
            </a:r>
            <a:endParaRPr lang="en-US" sz="150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F5208A72-D0CA-5730-BDEF-443992C7FCD2}"/>
              </a:ext>
            </a:extLst>
          </p:cNvPr>
          <p:cNvSpPr/>
          <p:nvPr/>
        </p:nvSpPr>
        <p:spPr>
          <a:xfrm>
            <a:off x="777240" y="5797296"/>
            <a:ext cx="10863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B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*El 43 % es incidencia regional reportada, no probabilidad de pérdida local. El 60 % no fue medido.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0214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2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12648" y="329184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APLICABILIDAD Y 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80467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PhishGuard GT puede servir a una PYME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30936" y="16733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alternativa para organizaciones con recursos tecnológicos y presupuestarios limitados.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354A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  •  DEFENSA DE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8309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10561320" cy="786384"/>
          </a:xfrm>
          <a:prstGeom prst="roundRect">
            <a:avLst>
              <a:gd name="adj" fmla="val 18605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1060704" y="2322576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310128" y="2267712"/>
            <a:ext cx="7653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impedir acceso a dominios catalogados como maliciosos.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090672"/>
            <a:ext cx="10561320" cy="786384"/>
          </a:xfrm>
          <a:prstGeom prst="roundRect">
            <a:avLst>
              <a:gd name="adj" fmla="val 18605"/>
            </a:avLst>
          </a:prstGeom>
          <a:solidFill>
            <a:srgbClr val="0E2035"/>
          </a:solidFill>
          <a:ln w="12700">
            <a:solidFill>
              <a:srgbClr val="0E20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060704" y="3264408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SIMPLIFICA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10128" y="3209544"/>
            <a:ext cx="7653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administración, consultas y evidencia de eventos DNS.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4032504"/>
            <a:ext cx="10561320" cy="786384"/>
          </a:xfrm>
          <a:prstGeom prst="roundRect">
            <a:avLst>
              <a:gd name="adj" fmla="val 18605"/>
            </a:avLst>
          </a:prstGeom>
          <a:solidFill>
            <a:srgbClr val="172B42"/>
          </a:solidFill>
          <a:ln w="12700">
            <a:solidFill>
              <a:srgbClr val="172B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1060704" y="4206240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310128" y="4151376"/>
            <a:ext cx="7653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 al personal para reconocer amenazas y actuar con mayor criterio.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" y="5285232"/>
            <a:ext cx="10405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GT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559612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5D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comienza antes del clic.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1129</Words>
  <Application>Microsoft Office PowerPoint</Application>
  <PresentationFormat>Panorámica</PresentationFormat>
  <Paragraphs>162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GT | Defensa conforme a rúbrica</dc:title>
  <dc:subject>PptxGenJS Presentation</dc:subject>
  <dc:creator>PhishGuard GT</dc:creator>
  <cp:lastModifiedBy>Fredy Geovany Martir González</cp:lastModifiedBy>
  <cp:revision>5</cp:revision>
  <dcterms:created xsi:type="dcterms:W3CDTF">2026-10-15T00:52:35Z</dcterms:created>
  <dcterms:modified xsi:type="dcterms:W3CDTF">2026-10-15T03:12:56Z</dcterms:modified>
</cp:coreProperties>
</file>