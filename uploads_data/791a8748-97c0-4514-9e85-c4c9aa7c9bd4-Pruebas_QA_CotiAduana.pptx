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las pruebas de calidad que aplicamos a CotiAduana, el cotizador aduanero que desarrolló otro grupo del salón. Revisamos su repositorio, ejecutamos 30 pruebas automatizadas y todas pasaron.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CotiAduana es un cotizador aduanero: el usuario ingresa FOB, flete, seguro y el código SAC, y el sistema calcula CIF, DAI e IVA. Evaluamos sus cuatro módulos: cálculo, autenticación, base de datos y la API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ve la aplicación: primero el login, luego el formulario donde se busca el código SAC con autocompletado, y al final el desglose de impuestos que se guarda en el historial del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Trabajamos bajo el ciclo PHVA de ISO 9001:2015. Además, con el pensamiento basado en riesgos de la cláusula 6.1 identificamos seis riesgos; cada uno está cubierto por al menos un caso de prueba. El más importante era el error de precisión con float, que se eliminó al usar Decimal.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30 pruebas se dividen en cuatro módulos. Ejemplo del cálculo: con FOB 1000, flete 100 y seguro 50, el CIF debe ser 1150, el DAI de tecnología 172.50 (15%) y el IVA 158.70 (12% sobre CIF más DAI). También probamos casos negativos: montos negativos, códigos SAC inválidos, peticiones sin token y cotizaciones inexistentes.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ejecutar toda la suite con pytest, las 30 pruebas pasaron en 0.41 segundos. Además verificamos la API desplegada en Render con Postman: el login responde 200 y devuelve el token. Cada uno de los 7 requisitos funcionales quedó cubierto por al menos una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 dictamen: el sistema está aprobado. Para seguir con la mejora continua del ciclo PHVA, recomendamos medir cobertura, agregar pruebas end-to-end, de carga y de seguridad, y automatizar todo en un pipeline de CI que bloquee el despliegue si falla una prueba. Gracias, ¿preguntas?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361"/>
            <a:ext cx="10566400" cy="410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68549"/>
            <a:ext cx="538937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100" kern="0" dirty="0">
                <a:solidFill>
                  <a:srgbClr val="6FD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ASEGURAMIENTO DE LA CALIDAD DEL SOFTWARE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28230"/>
            <a:ext cx="538937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CotiAduana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950170"/>
            <a:ext cx="5389372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Informe de pruebas QA a un cotizador aduanero digital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3877270"/>
            <a:ext cx="538937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6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Evaluación del repositorio de otro grupo del curso · ISO 9001:2015 · XP con TDD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639270"/>
            <a:ext cx="2409230" cy="650081"/>
          </a:xfrm>
          <a:custGeom>
            <a:avLst/>
            <a:gdLst/>
            <a:ahLst/>
            <a:cxnLst/>
            <a:rect l="l" t="t" r="r" b="b"/>
            <a:pathLst>
              <a:path w="2409230" h="650081">
                <a:moveTo>
                  <a:pt x="325041" y="0"/>
                </a:moveTo>
                <a:lnTo>
                  <a:pt x="2084189" y="0"/>
                </a:lnTo>
                <a:arcTo hR="325041" wR="325041" stAng="16200000" swAng="5400000"/>
                <a:lnTo>
                  <a:pt x="2409230" y="325041"/>
                </a:lnTo>
                <a:arcTo hR="325041" wR="325041" stAng="0" swAng="5400000"/>
                <a:lnTo>
                  <a:pt x="325041" y="650081"/>
                </a:lnTo>
                <a:arcTo hR="325041" wR="325041" stAng="5400000" swAng="5400000"/>
                <a:lnTo>
                  <a:pt x="0" y="325041"/>
                </a:lnTo>
                <a:arcTo hR="325041" wR="325041" stAng="10800000" swAng="5400000"/>
                <a:close/>
              </a:path>
            </a:pathLst>
          </a:custGeom>
          <a:solidFill>
            <a:srgbClr val="6FD3A0"/>
          </a:solidFill>
          <a:ln/>
        </p:spPr>
        <p:txBody>
          <a:bodyPr wrap="square" lIns="177800" tIns="76200" rIns="116191" bIns="508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30/30 pruebas aprobadas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74430" y="4733230"/>
            <a:ext cx="275089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Equipo QA · Grupo #1 · Octubre 2026</a:t>
            </a:r>
            <a:endParaRPr lang="en-US" sz="1300" dirty="0"/>
          </a:p>
        </p:txBody>
      </p:sp>
      <p:pic>
        <p:nvPicPr>
          <p:cNvPr id="8" name="Image 0" descr="Pantalla principal de CotiAduana con el formulario de nueva cotización y la lista de cotizaciones del usuario">    </p:cNvPr>
          <p:cNvPicPr>
            <a:picLocks noChangeAspect="1"/>
          </p:cNvPicPr>
          <p:nvPr/>
        </p:nvPicPr>
        <p:blipFill>
          <a:blip r:embed="rId1"/>
          <a:srcRect l="-51" r="-51" t="0" b="0"/>
          <a:stretch/>
        </p:blipFill>
        <p:spPr>
          <a:xfrm>
            <a:off x="6553200" y="1708150"/>
            <a:ext cx="4826000" cy="3441700"/>
          </a:xfrm>
          <a:prstGeom prst="roundRect">
            <a:avLst>
              <a:gd name="adj" fmla="val 3690"/>
            </a:avLst>
          </a:prstGeom>
          <a:effectLst>
            <a:outerShdw sx="100000" sy="100000" kx="0" ky="0" algn="bl" rotWithShape="0" blurRad="508000" dist="152400" dir="540000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· ALCANCE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 sistema evaluado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732161"/>
            <a:ext cx="11379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Calcula CIF, DAI e IVA (12%) según el Arancel Centroamericano 2026, sobre un catálogo de ~4,700 partidas SAC.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2324596"/>
            <a:ext cx="5187950" cy="965101"/>
          </a:xfrm>
          <a:prstGeom prst="roundRect">
            <a:avLst>
              <a:gd name="adj" fmla="val 10198"/>
            </a:avLst>
          </a:prstGeom>
          <a:solidFill>
            <a:srgbClr val="FBFCFD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750" y="2530971"/>
            <a:ext cx="48661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calculator.py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7750" y="2843312"/>
            <a:ext cx="486613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Fórmulas aduaneras y redondeo exacto con Decimal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8075" y="2324596"/>
            <a:ext cx="5187950" cy="965101"/>
          </a:xfrm>
          <a:prstGeom prst="roundRect">
            <a:avLst>
              <a:gd name="adj" fmla="val 10198"/>
            </a:avLst>
          </a:prstGeom>
          <a:solidFill>
            <a:srgbClr val="FBFCFD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850" y="2530971"/>
            <a:ext cx="48661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auth.py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19850" y="2843312"/>
            <a:ext cx="486613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Credenciales y tokens Bearer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975" y="3473847"/>
            <a:ext cx="5187950" cy="965101"/>
          </a:xfrm>
          <a:prstGeom prst="roundRect">
            <a:avLst>
              <a:gd name="adj" fmla="val 10198"/>
            </a:avLst>
          </a:prstGeom>
          <a:solidFill>
            <a:srgbClr val="FBFCFD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750" y="3680222"/>
            <a:ext cx="48661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db.py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7750" y="3992563"/>
            <a:ext cx="486613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Persistencia por UUID y aislamiento entre usuarios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8075" y="3473847"/>
            <a:ext cx="5187950" cy="965101"/>
          </a:xfrm>
          <a:prstGeom prst="roundRect">
            <a:avLst>
              <a:gd name="adj" fmla="val 10198"/>
            </a:avLst>
          </a:prstGeom>
          <a:solidFill>
            <a:srgbClr val="FBFCFD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850" y="3680222"/>
            <a:ext cx="486613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app.py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9850" y="3992563"/>
            <a:ext cx="486613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REST en Flask, códigos HTTP y frontend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2306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CotiAduana · Informe QA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· LA APLICACIÓN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Recorrido por la interfaz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3386634" cy="2794000"/>
          </a:xfrm>
          <a:prstGeom prst="roundRect">
            <a:avLst>
              <a:gd name="adj" fmla="val 3636"/>
            </a:avLst>
          </a:prstGeom>
          <a:solidFill>
            <a:srgbClr val="E3E8EE"/>
          </a:solidFill>
          <a:ln/>
        </p:spPr>
      </p:sp>
      <p:pic>
        <p:nvPicPr>
          <p:cNvPr id="5" name="Image 0" descr="Pantalla de inicio de sesión de CotiAduana">    </p:cNvPr>
          <p:cNvPicPr>
            <a:picLocks noChangeAspect="1"/>
          </p:cNvPicPr>
          <p:nvPr/>
        </p:nvPicPr>
        <p:blipFill>
          <a:blip r:embed="rId1"/>
          <a:srcRect l="0" r="0" t="-1193" b="-1193"/>
          <a:stretch/>
        </p:blipFill>
        <p:spPr>
          <a:xfrm>
            <a:off x="982067" y="2062361"/>
            <a:ext cx="3048000" cy="254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856361"/>
            <a:ext cx="34882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Inicio de sesión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5227141"/>
            <a:ext cx="348823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 credenciales y emite el token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02634" y="1935361"/>
            <a:ext cx="3386634" cy="2794000"/>
          </a:xfrm>
          <a:prstGeom prst="roundRect">
            <a:avLst>
              <a:gd name="adj" fmla="val 3636"/>
            </a:avLst>
          </a:prstGeom>
          <a:solidFill>
            <a:srgbClr val="E3E8EE"/>
          </a:solidFill>
          <a:ln/>
        </p:spPr>
      </p:sp>
      <p:pic>
        <p:nvPicPr>
          <p:cNvPr id="9" name="Image 1" descr="Formulario de cotización con búsqueda reactiva de códigos SAC">    </p:cNvPr>
          <p:cNvPicPr>
            <a:picLocks noChangeAspect="1"/>
          </p:cNvPicPr>
          <p:nvPr/>
        </p:nvPicPr>
        <p:blipFill>
          <a:blip r:embed="rId2"/>
          <a:srcRect l="-3509" r="-3509" t="0" b="0"/>
          <a:stretch/>
        </p:blipFill>
        <p:spPr>
          <a:xfrm>
            <a:off x="4571901" y="2062361"/>
            <a:ext cx="3048000" cy="2540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02634" y="4856361"/>
            <a:ext cx="34882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Búsqueda de códigos SAC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02634" y="5227141"/>
            <a:ext cx="348823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Autocompletado en tiempo real con la tasa DAI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92467" y="1935361"/>
            <a:ext cx="3386634" cy="2794000"/>
          </a:xfrm>
          <a:prstGeom prst="roundRect">
            <a:avLst>
              <a:gd name="adj" fmla="val 3636"/>
            </a:avLst>
          </a:prstGeom>
          <a:solidFill>
            <a:srgbClr val="E3E8EE"/>
          </a:solidFill>
          <a:ln/>
        </p:spPr>
      </p:sp>
      <p:pic>
        <p:nvPicPr>
          <p:cNvPr id="13" name="Image 2" descr="Resultado de una cotización con CIF, DAI, IVA y total">    </p:cNvPr>
          <p:cNvPicPr>
            <a:picLocks noChangeAspect="1"/>
          </p:cNvPicPr>
          <p:nvPr/>
        </p:nvPicPr>
        <p:blipFill>
          <a:blip r:embed="rId3"/>
          <a:srcRect l="-1796" r="-1796" t="0" b="0"/>
          <a:stretch/>
        </p:blipFill>
        <p:spPr>
          <a:xfrm>
            <a:off x="8161734" y="2062361"/>
            <a:ext cx="3048000" cy="2540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92467" y="4856361"/>
            <a:ext cx="34882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Liquidación de impuestos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992467" y="5227141"/>
            <a:ext cx="348823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CIF, DAI, IVA y total con referencia UUID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2306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CotiAduana · Informe QA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· MARCO DE CALIDAD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ISO 9001:2015 y gestión de riesgos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561"/>
            <a:ext cx="2546350" cy="987822"/>
          </a:xfrm>
          <a:prstGeom prst="roundRect">
            <a:avLst>
              <a:gd name="adj" fmla="val 9000"/>
            </a:avLst>
          </a:prstGeom>
          <a:solidFill>
            <a:srgbClr val="0F1E2E"/>
          </a:solidFill>
          <a:ln/>
        </p:spPr>
      </p:sp>
      <p:sp>
        <p:nvSpPr>
          <p:cNvPr id="5" name="Text 3"/>
          <p:cNvSpPr/>
          <p:nvPr/>
        </p:nvSpPr>
        <p:spPr>
          <a:xfrm>
            <a:off x="990600" y="2036961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FD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Planificar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0600" y="2323902"/>
            <a:ext cx="225647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Criterios, riesgos y pruebas antes del código (TDD)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86150" y="1884561"/>
            <a:ext cx="2546350" cy="987822"/>
          </a:xfrm>
          <a:prstGeom prst="roundRect">
            <a:avLst>
              <a:gd name="adj" fmla="val 9000"/>
            </a:avLst>
          </a:prstGeom>
          <a:solidFill>
            <a:srgbClr val="0F1E2E"/>
          </a:solidFill>
          <a:ln/>
        </p:spPr>
      </p:sp>
      <p:sp>
        <p:nvSpPr>
          <p:cNvPr id="8" name="Text 6"/>
          <p:cNvSpPr/>
          <p:nvPr/>
        </p:nvSpPr>
        <p:spPr>
          <a:xfrm>
            <a:off x="3663950" y="2036961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FD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Hacer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63950" y="2323902"/>
            <a:ext cx="225647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Módulos y casos automatizados en Pytest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9500" y="1884561"/>
            <a:ext cx="2546350" cy="987822"/>
          </a:xfrm>
          <a:prstGeom prst="roundRect">
            <a:avLst>
              <a:gd name="adj" fmla="val 9000"/>
            </a:avLst>
          </a:prstGeom>
          <a:solidFill>
            <a:srgbClr val="0F1E2E"/>
          </a:solidFill>
          <a:ln/>
        </p:spPr>
      </p:sp>
      <p:sp>
        <p:nvSpPr>
          <p:cNvPr id="11" name="Text 9"/>
          <p:cNvSpPr/>
          <p:nvPr/>
        </p:nvSpPr>
        <p:spPr>
          <a:xfrm>
            <a:off x="6337300" y="2036961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FD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37300" y="2323902"/>
            <a:ext cx="225647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pruebas, Postman, límites y casos negativos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32850" y="1884561"/>
            <a:ext cx="2546350" cy="987822"/>
          </a:xfrm>
          <a:prstGeom prst="roundRect">
            <a:avLst>
              <a:gd name="adj" fmla="val 9000"/>
            </a:avLst>
          </a:prstGeom>
          <a:solidFill>
            <a:srgbClr val="0F1E2E"/>
          </a:solidFill>
          <a:ln/>
        </p:spPr>
      </p:sp>
      <p:sp>
        <p:nvSpPr>
          <p:cNvPr id="14" name="Text 12"/>
          <p:cNvSpPr/>
          <p:nvPr/>
        </p:nvSpPr>
        <p:spPr>
          <a:xfrm>
            <a:off x="9010650" y="2036961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FD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Actuar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10650" y="2323902"/>
            <a:ext cx="225647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D5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Corregir y migrar de float a Decimal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139083"/>
          <a:ext cx="10553700" cy="2328069"/>
        </p:xfrm>
        <a:graphic>
          <a:graphicData uri="http://schemas.openxmlformats.org/drawingml/2006/table">
            <a:tbl>
              <a:tblPr/>
              <a:tblGrid>
                <a:gridCol w="949833"/>
                <a:gridCol w="4010406"/>
                <a:gridCol w="1160907"/>
                <a:gridCol w="4432554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Riesgo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Nivel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Control y resultado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E5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Imprecisión por float en montos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Decimal a 2 decimales · eliminado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5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R-02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Valores negativos en FOB/flete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ValueError controlado · mitigado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R-03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Código SAC inexistente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Validación contra catálogo · HTTP 400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R-04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Acceso sin autenticación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Alto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Token Bearer · HTTP 401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R-05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Cruce de datos entre usuarios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Filtro por usuario en la BD · mitigado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R-06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Caída de la base de datos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Bajo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E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Fallback en memoria · controlado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C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800" y="6238280"/>
            <a:ext cx="2306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CotiAduana · Informe QA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· PRUEBAS POR MÓDULO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 pruebas automatizadas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561"/>
            <a:ext cx="53370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Cálculo tributario</a:t>
            </a:r>
            <a:r>
              <a:rPr lang="en-US" sz="140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10 pruebas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191841"/>
            <a:ext cx="5181600" cy="1460500"/>
          </a:xfrm>
          <a:prstGeom prst="roundRect">
            <a:avLst>
              <a:gd name="adj" fmla="val 5217"/>
            </a:avLst>
          </a:prstGeom>
          <a:solidFill>
            <a:srgbClr val="0C1218"/>
          </a:solidFill>
          <a:ln/>
        </p:spPr>
      </p:sp>
      <p:pic>
        <p:nvPicPr>
          <p:cNvPr id="6" name="Image 0" descr="Ejecución de test_calculator.py con 10 pruebas aprob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768" y="2191841"/>
            <a:ext cx="4093664" cy="1460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97600" y="1884561"/>
            <a:ext cx="53370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Autenticación</a:t>
            </a:r>
            <a:r>
              <a:rPr lang="en-US" sz="140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4 pruebas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7600" y="2191841"/>
            <a:ext cx="5181600" cy="1460500"/>
          </a:xfrm>
          <a:prstGeom prst="roundRect">
            <a:avLst>
              <a:gd name="adj" fmla="val 5217"/>
            </a:avLst>
          </a:prstGeom>
          <a:solidFill>
            <a:srgbClr val="0C1218"/>
          </a:solidFill>
          <a:ln/>
        </p:spPr>
      </p:sp>
      <p:pic>
        <p:nvPicPr>
          <p:cNvPr id="9" name="Image 1" descr="Ejecución de test_auth.py con 4 pruebas aprobad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2230613"/>
            <a:ext cx="5181600" cy="1382957"/>
          </a:xfrm>
          <a:custGeom>
            <a:avLst/>
            <a:gdLst/>
            <a:ahLst/>
            <a:cxnLst/>
            <a:rect l="l" t="t" r="r" b="b"/>
            <a:pathLst>
              <a:path w="5181600" h="1382957">
                <a:moveTo>
                  <a:pt x="0" y="37429"/>
                </a:moveTo>
                <a:arcTo wR="76200" hR="76200" stAng="10800000" swAng="1765130"/>
                <a:lnTo>
                  <a:pt x="5171774" y="0"/>
                </a:lnTo>
                <a:arcTo wR="76200" hR="76200" stAng="19834870" swAng="1765130"/>
                <a:lnTo>
                  <a:pt x="5181600" y="1345529"/>
                </a:lnTo>
                <a:arcTo wR="76200" hR="76200" stAng="0" swAng="1765130"/>
                <a:lnTo>
                  <a:pt x="9826" y="1382957"/>
                </a:lnTo>
                <a:arcTo wR="76200" hR="76200" stAng="9034870" swAng="1765130"/>
                <a:close/>
              </a:path>
            </a:pathLst>
          </a:custGeom>
        </p:spPr>
      </p:pic>
      <p:sp>
        <p:nvSpPr>
          <p:cNvPr id="10" name="Text 6"/>
          <p:cNvSpPr/>
          <p:nvPr/>
        </p:nvSpPr>
        <p:spPr>
          <a:xfrm>
            <a:off x="812800" y="3855541"/>
            <a:ext cx="53370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Persistencia</a:t>
            </a:r>
            <a:r>
              <a:rPr lang="en-US" sz="140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4 pruebas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12800" y="4162822"/>
            <a:ext cx="5181600" cy="1460500"/>
          </a:xfrm>
          <a:prstGeom prst="roundRect">
            <a:avLst>
              <a:gd name="adj" fmla="val 5217"/>
            </a:avLst>
          </a:prstGeom>
          <a:solidFill>
            <a:srgbClr val="0C1218"/>
          </a:solidFill>
          <a:ln/>
        </p:spPr>
      </p:sp>
      <p:pic>
        <p:nvPicPr>
          <p:cNvPr id="12" name="Image 2" descr="Ejecución de test_db.py con 4 pruebas aprobad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4198584"/>
            <a:ext cx="5181600" cy="1388975"/>
          </a:xfrm>
          <a:custGeom>
            <a:avLst/>
            <a:gdLst/>
            <a:ahLst/>
            <a:cxnLst/>
            <a:rect l="l" t="t" r="r" b="b"/>
            <a:pathLst>
              <a:path w="5181600" h="1388975">
                <a:moveTo>
                  <a:pt x="0" y="40438"/>
                </a:moveTo>
                <a:arcTo wR="76200" hR="76200" stAng="10800000" swAng="1923080"/>
                <a:lnTo>
                  <a:pt x="5169985" y="0"/>
                </a:lnTo>
                <a:arcTo wR="76200" hR="76200" stAng="19676920" swAng="1923080"/>
                <a:lnTo>
                  <a:pt x="5181600" y="1348538"/>
                </a:lnTo>
                <a:arcTo wR="76200" hR="76200" stAng="0" swAng="1923080"/>
                <a:lnTo>
                  <a:pt x="11615" y="1388975"/>
                </a:lnTo>
                <a:arcTo wR="76200" hR="76200" stAng="8876920" swAng="1923080"/>
                <a:close/>
              </a:path>
            </a:pathLst>
          </a:custGeom>
        </p:spPr>
      </p:pic>
      <p:sp>
        <p:nvSpPr>
          <p:cNvPr id="13" name="Text 8"/>
          <p:cNvSpPr/>
          <p:nvPr/>
        </p:nvSpPr>
        <p:spPr>
          <a:xfrm>
            <a:off x="6197600" y="3855541"/>
            <a:ext cx="53370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REST</a:t>
            </a:r>
            <a:r>
              <a:rPr lang="en-US" sz="140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· 12 pruebas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197600" y="4162822"/>
            <a:ext cx="5181600" cy="1460500"/>
          </a:xfrm>
          <a:prstGeom prst="roundRect">
            <a:avLst>
              <a:gd name="adj" fmla="val 5217"/>
            </a:avLst>
          </a:prstGeom>
          <a:solidFill>
            <a:srgbClr val="0C1218"/>
          </a:solidFill>
          <a:ln/>
        </p:spPr>
      </p:sp>
      <p:pic>
        <p:nvPicPr>
          <p:cNvPr id="15" name="Image 3" descr="Ejecución de test_api.py con 12 pruebas aprobad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074" y="4162822"/>
            <a:ext cx="4498652" cy="146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2800" y="6238280"/>
            <a:ext cx="2306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CotiAduana · Informe QA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4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spc="100" kern="0" dirty="0">
                <a:solidFill>
                  <a:srgbClr val="6FD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· RESULTADOS</a:t>
            </a:r>
            <a:endParaRPr lang="en-US" sz="1121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13135"/>
            <a:ext cx="1088339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25"/>
              </a:lnSpc>
              <a:buNone/>
            </a:pPr>
            <a:r>
              <a:rPr lang="en-US" sz="3386" b="1" i="0" dirty="0">
                <a:solidFill>
                  <a:srgbClr val="F3F5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Toda la suite pasó</a:t>
            </a:r>
            <a:endParaRPr lang="en-US" sz="3386" dirty="0"/>
          </a:p>
        </p:txBody>
      </p:sp>
      <p:pic>
        <p:nvPicPr>
          <p:cNvPr id="4" name="Image 0" descr="Terminal con la suite completa de Pytest: 30 passed in 0.41s">    </p:cNvPr>
          <p:cNvPicPr>
            <a:picLocks noChangeAspect="1"/>
          </p:cNvPicPr>
          <p:nvPr/>
        </p:nvPicPr>
        <p:blipFill>
          <a:blip r:embed="rId1"/>
          <a:srcRect l="-86" r="-86" t="0" b="0"/>
          <a:stretch/>
        </p:blipFill>
        <p:spPr>
          <a:xfrm>
            <a:off x="819150" y="1841897"/>
            <a:ext cx="5702300" cy="3771900"/>
          </a:xfrm>
          <a:prstGeom prst="roundRect">
            <a:avLst>
              <a:gd name="adj" fmla="val 2189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15975" y="1838722"/>
            <a:ext cx="5708650" cy="3778250"/>
          </a:xfrm>
          <a:prstGeom prst="roundRect">
            <a:avLst>
              <a:gd name="adj" fmla="val 2269"/>
            </a:avLst>
          </a:prstGeom>
          <a:noFill/>
          <a:ln w="6350">
            <a:solidFill>
              <a:srgbClr val="2A3B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83400" y="1835547"/>
            <a:ext cx="4630674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6FD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30/30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6883400" y="3003947"/>
            <a:ext cx="463067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D5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aprobadas · 0 fallidas · 0 errores · 0.41 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83400" y="3440807"/>
            <a:ext cx="463067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6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requisitos con cobertura total en la matriz de trazabilidad</a:t>
            </a:r>
            <a:endParaRPr lang="en-US" sz="1400" dirty="0"/>
          </a:p>
        </p:txBody>
      </p:sp>
      <p:pic>
        <p:nvPicPr>
          <p:cNvPr id="9" name="Image 1" descr="Postman: POST /login en producción devuelve 200 con el token">    </p:cNvPr>
          <p:cNvPicPr>
            <a:picLocks noChangeAspect="1"/>
          </p:cNvPicPr>
          <p:nvPr/>
        </p:nvPicPr>
        <p:blipFill>
          <a:blip r:embed="rId2"/>
          <a:srcRect l="-101" r="-101" t="0" b="0"/>
          <a:stretch/>
        </p:blipFill>
        <p:spPr>
          <a:xfrm>
            <a:off x="6883400" y="4090888"/>
            <a:ext cx="2667000" cy="2006600"/>
          </a:xfrm>
          <a:prstGeom prst="roundRect">
            <a:avLst>
              <a:gd name="adj" fmla="val 3797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812800" y="6238280"/>
            <a:ext cx="2306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CotiAduana · Informe QA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F7A5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· DICTAMEN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Aprobado, con mejoras para el siguiente ciclo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361"/>
            <a:ext cx="5124450" cy="2353866"/>
          </a:xfrm>
          <a:prstGeom prst="roundRect">
            <a:avLst>
              <a:gd name="adj" fmla="val 4856"/>
            </a:avLst>
          </a:prstGeom>
          <a:solidFill>
            <a:srgbClr val="0F1E2E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2214761"/>
            <a:ext cx="470262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6FD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 que se validó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3320" y="2616002"/>
            <a:ext cx="4623879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E6EC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Cálculo exacto de impuestos según el ACI 2026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E6EC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Endpoints protegidos y datos aislados por usuario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E6EC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Rechazo de entradas inválidas o incompletas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225" y="1938536"/>
            <a:ext cx="5130800" cy="2347516"/>
          </a:xfrm>
          <a:prstGeom prst="roundRect">
            <a:avLst>
              <a:gd name="adj" fmla="val 4734"/>
            </a:avLst>
          </a:prstGeom>
          <a:solidFill>
            <a:srgbClr val="FBFCFD"/>
          </a:solidFill>
          <a:ln w="6350">
            <a:solidFill>
              <a:srgbClr val="D8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7800" y="2221111"/>
            <a:ext cx="470262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E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Recomendaciones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98920" y="2622352"/>
            <a:ext cx="4623879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Cobertura con pytest-cov, mínimo 90%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Pruebas E2E con Playwright o Cypress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Carga con k6 o Locust (50–100 usuarios)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Seguridad: bandit y OWASP ZAP</a:t>
            </a:r>
            <a:endParaRPr lang="en-US" sz="1500" dirty="0"/>
          </a:p>
          <a:p>
            <a:pPr algn="l" marL="182880" indent="-182880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 en GitHub Actions y mutación con mutmut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2306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68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CotiAduana · Informe QA ·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uebas QA CotiAduana">
  <a:themeElements>
    <a:clrScheme name="Pruebas QA CotiAduana">
      <a:dk1>
        <a:srgbClr val="0F1E2E"/>
      </a:dk1>
      <a:lt1>
        <a:srgbClr val="F3F5F7"/>
      </a:lt1>
      <a:dk2>
        <a:srgbClr val="485460"/>
      </a:dk2>
      <a:lt2>
        <a:srgbClr val="DCE0E3"/>
      </a:lt2>
      <a:accent1>
        <a:srgbClr val="6FD3A0"/>
      </a:accent1>
      <a:accent2>
        <a:srgbClr val="1F7A52"/>
      </a:accent2>
      <a:accent3>
        <a:srgbClr val="4A5568"/>
      </a:accent3>
      <a:accent4>
        <a:srgbClr val="6A7684"/>
      </a:accent4>
      <a:accent5>
        <a:srgbClr val="D5DEE7"/>
      </a:accent5>
      <a:accent6>
        <a:srgbClr val="B9C6D3"/>
      </a:accent6>
      <a:hlink>
        <a:srgbClr val="0563C1"/>
      </a:hlink>
      <a:folHlink>
        <a:srgbClr val="954F72"/>
      </a:folHlink>
    </a:clrScheme>
    <a:fontScheme name="Pruebas QA CotiAduana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Pruebas QA CotiAduana</dc:title>
  <dc:subject/>
  <dc:creator/>
  <cp:lastModifiedBy/>
  <cp:revision>1</cp:revision>
  <dcterms:created xsi:type="dcterms:W3CDTF">2026-10-10T02:21:40Z</dcterms:created>
  <dcterms:modified xsi:type="dcterms:W3CDTF">2026-10-10T02:21:40Z</dcterms:modified>
</cp:coreProperties>
</file>